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15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474720" cy="3474720"/>
          </a:xfrm>
          <a:prstGeom prst="ellipse">
            <a:avLst/>
          </a:prstGeom>
          <a:solidFill>
            <a:srgbClr val="0F4A5A"/>
          </a:solidFill>
          <a:ln w="12700">
            <a:solidFill>
              <a:srgbClr val="0F4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D3F4E"/>
          </a:solidFill>
          <a:ln w="12700">
            <a:solidFill>
              <a:srgbClr val="0D3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Twitter Sentiment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&amp; Google Products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57860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Classification  +  Neural Networks  +  Model Interpretability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315468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0" y="32186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Mercy Mwangi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44074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NLP Project  •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|  Phase 4 NLP Project  |  June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Business Understanding &amp; Data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6634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01168" cy="676656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316736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1152144"/>
            <a:ext cx="4279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&amp; Google receive thousands of tweets daily — how can brand teams manually read and categorise all this data?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47088"/>
            <a:ext cx="46634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201168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2066544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3504" y="1901952"/>
            <a:ext cx="4279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eliminate delays in responding to negative brand signals caused by feature failures or software updates?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596896"/>
            <a:ext cx="46634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596896"/>
            <a:ext cx="201168" cy="6766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816352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" y="2651760"/>
            <a:ext cx="4279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measure brand perception objectively and continuously rather than through expensive surveys?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346704"/>
            <a:ext cx="46634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346704"/>
            <a:ext cx="201168" cy="676656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3566160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3504" y="3401568"/>
            <a:ext cx="4279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distinguish sentiment between individual product lines (iPhone, iPad, Android, Google apps)?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096512"/>
            <a:ext cx="46634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096512"/>
            <a:ext cx="201168" cy="676656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431596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3504" y="4151376"/>
            <a:ext cx="4279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prevent class imbalance (only 6% negative) from hiding the most critical business signals?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30368" y="74980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93792" y="1097280"/>
            <a:ext cx="363931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21808" y="11704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1444752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CrowdFlower via data.world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9,093 human-labelled tweets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tweet_text · product · sentiment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93792" y="2304288"/>
            <a:ext cx="1719072" cy="804672"/>
          </a:xfrm>
          <a:prstGeom prst="roundRect">
            <a:avLst>
              <a:gd name="adj" fmla="val 1136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93792" y="2340864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9,093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193792" y="2779776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tweets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13448" y="2304288"/>
            <a:ext cx="1719072" cy="804672"/>
          </a:xfrm>
          <a:prstGeom prst="roundRect">
            <a:avLst>
              <a:gd name="adj" fmla="val 11364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13448" y="2340864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8,892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013448" y="2779776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93792" y="3218688"/>
            <a:ext cx="1719072" cy="804672"/>
          </a:xfrm>
          <a:prstGeom prst="roundRect">
            <a:avLst>
              <a:gd name="adj" fmla="val 11364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93792" y="3255264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193792" y="3694176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class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13448" y="3218688"/>
            <a:ext cx="1719072" cy="804672"/>
          </a:xfrm>
          <a:prstGeom prst="roundRect">
            <a:avLst>
              <a:gd name="adj" fmla="val 11364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13448" y="3255264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013448" y="3694176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(critical)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93792" y="4187952"/>
            <a:ext cx="3639312" cy="621792"/>
          </a:xfrm>
          <a:prstGeom prst="roundRect">
            <a:avLst>
              <a:gd name="adj" fmla="val 14706"/>
            </a:avLst>
          </a:prstGeom>
          <a:solidFill>
            <a:srgbClr val="E8F4F6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285232" y="4224528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85232" y="445312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285232" y="4636008"/>
            <a:ext cx="630936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52744" y="4617720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73952" y="445312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73952" y="4636008"/>
            <a:ext cx="347015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57543" y="4617720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662672" y="445312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662672" y="4636008"/>
            <a:ext cx="63094" cy="10972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762342" y="4617720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|  Phase 4 NLP Project  |  June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</a:rPr>
              <a:t>Step2: Load, Explore </a:t>
            </a:r>
            <a:r>
              <a:rPr lang="en-US" sz="3100" b="1" dirty="0" err="1">
                <a:solidFill>
                  <a:srgbClr val="0D3349"/>
                </a:solidFill>
                <a:latin typeface="Cambria" pitchFamily="34" charset="0"/>
                <a:ea typeface="Cambria" pitchFamily="34" charset="-122"/>
              </a:rPr>
              <a:t>Data&amp;Project</a:t>
            </a:r>
            <a:r>
              <a:rPr lang="en-US" sz="3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</a:rPr>
              <a:t> Structure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systematic notebook — three modelling phases flow sequentially before interpretability.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78992"/>
            <a:ext cx="786384" cy="7863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78992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54480" y="1472184"/>
            <a:ext cx="47548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993392"/>
            <a:ext cx="162763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" y="2048256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Libraries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39572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NLP, TensorFlow/Keras, LIME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078992"/>
            <a:ext cx="786384" cy="7863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0592" y="1078992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73552" y="1472184"/>
            <a:ext cx="47548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11680" y="1993392"/>
            <a:ext cx="162763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57400" y="2048256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Explore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239572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nulls, class distribution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69664" y="1078992"/>
            <a:ext cx="786384" cy="7863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69664" y="1078992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92624" y="1472184"/>
            <a:ext cx="47548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30752" y="1993392"/>
            <a:ext cx="162763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76472" y="2048256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76472" y="239572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Dedup, nulls → df_cleaned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88736" y="1078992"/>
            <a:ext cx="786384" cy="7863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88736" y="1078992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11696" y="1472184"/>
            <a:ext cx="475488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49824" y="1993392"/>
            <a:ext cx="162763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95544" y="2048256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95544" y="239572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Histogram, scatter, heatmap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07808" y="1078992"/>
            <a:ext cx="786384" cy="7863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07808" y="1078992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68896" y="1993392"/>
            <a:ext cx="162763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14616" y="2048256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14616" y="239572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Tokenizer, splits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" y="2999232"/>
            <a:ext cx="786384" cy="78638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" y="2999232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554480" y="3392424"/>
            <a:ext cx="47548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92608" y="3913632"/>
            <a:ext cx="162763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8328" y="3968496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ML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8328" y="431596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→ LR → RF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50592" y="2999232"/>
            <a:ext cx="786384" cy="78638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450592" y="2999232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6B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273552" y="3392424"/>
            <a:ext cx="47548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011680" y="3913632"/>
            <a:ext cx="162763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057400" y="3968496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Multiclass ML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057400" y="431596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→ LR Balanced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69664" y="2999232"/>
            <a:ext cx="786384" cy="786384"/>
          </a:xfrm>
          <a:prstGeom prst="ellipse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69664" y="2999232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6C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992624" y="3392424"/>
            <a:ext cx="475488" cy="0"/>
          </a:xfrm>
          <a:prstGeom prst="line">
            <a:avLst/>
          </a:prstGeom>
          <a:noFill/>
          <a:ln w="19050">
            <a:solidFill>
              <a:srgbClr val="4B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730752" y="3913632"/>
            <a:ext cx="162763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776472" y="3968496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776472" y="431596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+ Bi-LSTM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88736" y="2999232"/>
            <a:ext cx="786384" cy="78638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888736" y="2999232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711696" y="3392424"/>
            <a:ext cx="475488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449824" y="3913632"/>
            <a:ext cx="162763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495544" y="3968496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Interpretability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95544" y="431596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+ LR coefficients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607808" y="2999232"/>
            <a:ext cx="786384" cy="786384"/>
          </a:xfrm>
          <a:prstGeom prst="ellipse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607808" y="2999232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8–10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7168896" y="3913632"/>
            <a:ext cx="162763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214616" y="3968496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Results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214616" y="431596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Evaluation, Conclusion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982712" y="1472184"/>
            <a:ext cx="0" cy="192024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|  Phase 4 NLP Project  |  June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Data Cleaning  →  df_cleaned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804672" cy="8046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8686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499616" y="1271016"/>
            <a:ext cx="51206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847088"/>
            <a:ext cx="1627632" cy="169164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" y="1920240"/>
            <a:ext cx="1517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helper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" y="2423160"/>
            <a:ext cx="15179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tweet_length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during EDA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95728" y="868680"/>
            <a:ext cx="804672" cy="8046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95728" y="8686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6976" y="1271016"/>
            <a:ext cx="51206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93392" y="1847088"/>
            <a:ext cx="1627632" cy="169164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48256" y="1920240"/>
            <a:ext cx="1517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48256" y="2423160"/>
            <a:ext cx="15179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duplicate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deleted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33088" y="868680"/>
            <a:ext cx="804672" cy="8046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33088" y="8686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974336" y="1271016"/>
            <a:ext cx="51206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30752" y="1847088"/>
            <a:ext cx="1627632" cy="169164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85616" y="1920240"/>
            <a:ext cx="1517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null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85616" y="2423160"/>
            <a:ext cx="15179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with missing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tweet_text removed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70448" y="868680"/>
            <a:ext cx="804672" cy="8046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70448" y="8686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1271016"/>
            <a:ext cx="51206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68112" y="1847088"/>
            <a:ext cx="1627632" cy="169164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22976" y="1920240"/>
            <a:ext cx="1517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ambiguous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22976" y="2423160"/>
            <a:ext cx="15179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'Can't Tell'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dropped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07808" y="868680"/>
            <a:ext cx="804672" cy="8046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07808" y="8686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205472" y="1847088"/>
            <a:ext cx="1627632" cy="169164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60336" y="1920240"/>
            <a:ext cx="1517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df_cleaned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0336" y="2423160"/>
            <a:ext cx="15179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8,892 rows × 3 cols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reset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675888"/>
            <a:ext cx="8503920" cy="1170432"/>
          </a:xfrm>
          <a:prstGeom prst="roundRect">
            <a:avLst>
              <a:gd name="adj" fmla="val 7813"/>
            </a:avLst>
          </a:prstGeom>
          <a:solidFill>
            <a:srgbClr val="E8F4F6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 After Cleaning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920240" y="3749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20240" y="4041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9,093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20240" y="4315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8,892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0" y="3749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74720" y="4041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74720" y="4315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0" y="3749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tweets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4041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0" y="4315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0" y="3749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labels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0" y="4041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83680" y="4315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" y="40416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1480" y="43159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|  Phase 4 NLP Project  |  June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Data Preparation / Preprocessing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431596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Text Cleaning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" y="138988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389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3898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URLs, @mentions, #hashtags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192024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19202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all 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45059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24505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4505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punctuation and digits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2980944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2980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9809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NLTK stop-words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351129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35112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5112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 (WordNetLemmatizer)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" y="404164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4041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0416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— unigrams+bigrams, max 5,000 features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822960"/>
            <a:ext cx="4160520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91440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— All Columns Numerical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36592" y="1325880"/>
            <a:ext cx="4005072" cy="320040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73168" y="13441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tweet_text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13441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86600" y="13441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 Keras Tokenizer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36592" y="1664208"/>
            <a:ext cx="40050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73168" y="168249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9320" y="168249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86600" y="168249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36592" y="2002536"/>
            <a:ext cx="4005072" cy="320040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202082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9320" y="202082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86600" y="20208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017520"/>
            <a:ext cx="416052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0600" y="31089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Feature Formats Prepared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0600" y="3493008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matrix (5,000 features)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NB, LR, RF, MLP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411480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integer sequences (max len 80)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Bidirectional LSTM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00600" y="470916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 — same for ALL models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|  Phase 4 NLP Project  |  June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6A &amp; 6B: Traditional ML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A — Binary (Positive vs Negative)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658368"/>
          </a:xfrm>
          <a:prstGeom prst="roundRect">
            <a:avLst>
              <a:gd name="adj" fmla="val 13889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152144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 Bayes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499616"/>
            <a:ext cx="2478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84.6%   F1 0.916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baseline; treats each word independently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2697480" cy="658368"/>
          </a:xfrm>
          <a:prstGeom prst="roundRect">
            <a:avLst>
              <a:gd name="adj" fmla="val 138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152144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1499616"/>
            <a:ext cx="2478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8288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85.5%   F1 0.920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17627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+ regularisation; marginal gain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1097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89320" y="1097280"/>
            <a:ext cx="2697480" cy="658368"/>
          </a:xfrm>
          <a:prstGeom prst="roundRect">
            <a:avLst>
              <a:gd name="adj" fmla="val 1388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99048" y="1152144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99048" y="1499616"/>
            <a:ext cx="2478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Binary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8288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88.6%   F1 0.936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217627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Ensemble; best accuracy &amp; F1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B — Multiclass (Positive / Neutral / Negative)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337560"/>
            <a:ext cx="418795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3337560"/>
            <a:ext cx="4187952" cy="548640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9768" y="3383280"/>
            <a:ext cx="3968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 Bayes — Baseline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95935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66.3%   Weighted F1: 0.606   Neg. Recall: 11%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79392"/>
            <a:ext cx="3913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toward majority Neutral class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27448" y="3337560"/>
            <a:ext cx="418795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27448" y="3337560"/>
            <a:ext cx="4187952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37176" y="3383280"/>
            <a:ext cx="3968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 Balanced — Best Traditional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64608" y="395935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63.8%   Weighted F1: 0.649   Neg. Recall: 58%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4279392"/>
            <a:ext cx="3913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— critical for Negative recall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|  Phase 4 NLP Project  |  June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6C: Neural Network Models  (Phase C)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after traditional ML — same train/test split for fair comparison.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2336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064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Classifier  —  scikit-learn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on TF-IDF features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92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2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TF-IDF(5000)  →  Dense(128, ReLU)  →  Dense(64, ReLU)  →  Softmax(3)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651760"/>
            <a:ext cx="3840480" cy="301752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26700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67.5%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971800"/>
            <a:ext cx="3840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5488" y="2990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23160" y="29900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291840"/>
            <a:ext cx="3840480" cy="301752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310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LR Balanced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3310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+0.010 F1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611880"/>
            <a:ext cx="3840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630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3630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Applied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Multiclass Model — Highest Weighted F1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051560"/>
            <a:ext cx="416052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105156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11064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LSTM  —  TensorFlow/Keras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00600" y="14813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reads tweet word-by-word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189280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17627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Embedding(10k,64)  →  BiLSTM(64)  →  MaxPool  →  Dense(64)  →  Softmax(3)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36592" y="2651760"/>
            <a:ext cx="4005072" cy="301752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2670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4848" y="267004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67.1%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36592" y="2971800"/>
            <a:ext cx="400507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29900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84848" y="29900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36592" y="3291840"/>
            <a:ext cx="4005072" cy="301752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33101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(early stop)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84848" y="3310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36592" y="3611880"/>
            <a:ext cx="400507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00600" y="3630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84848" y="363016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Applied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448056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forward AND backward — captures word order unlike TF-IDF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|  Phase 4 NLP Project  |  June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6C: LSTM Training History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 — 5 epochs (early stopping). Validation peaked at epoch 2; best weights restored.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349240" cy="3822192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per Epoch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4297680" cy="0"/>
          </a:xfrm>
          <a:prstGeom prst="line">
            <a:avLst/>
          </a:prstGeom>
          <a:noFill/>
          <a:ln w="6350">
            <a:solidFill>
              <a:srgbClr val="E2E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764792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97280" y="2468880"/>
            <a:ext cx="4297680" cy="0"/>
          </a:xfrm>
          <a:prstGeom prst="line">
            <a:avLst/>
          </a:prstGeom>
          <a:noFill/>
          <a:ln w="6350">
            <a:solidFill>
              <a:srgbClr val="E2E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2404872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97280" y="3108960"/>
            <a:ext cx="4297680" cy="0"/>
          </a:xfrm>
          <a:prstGeom prst="line">
            <a:avLst/>
          </a:prstGeom>
          <a:noFill/>
          <a:ln w="6350">
            <a:solidFill>
              <a:srgbClr val="E2E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3044952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97280" y="3749040"/>
            <a:ext cx="4297680" cy="0"/>
          </a:xfrm>
          <a:prstGeom prst="line">
            <a:avLst/>
          </a:prstGeom>
          <a:noFill/>
          <a:ln w="6350">
            <a:solidFill>
              <a:srgbClr val="E2E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3685032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97280" y="3736238"/>
            <a:ext cx="85953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56816" y="3307385"/>
            <a:ext cx="85953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16352" y="2705710"/>
            <a:ext cx="85953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75888" y="2276856"/>
            <a:ext cx="85953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33272" y="367223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92808" y="3243377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52344" y="264170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11880" y="2212848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71416" y="1944014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97280" y="3672230"/>
            <a:ext cx="859536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956816" y="3217774"/>
            <a:ext cx="859536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816352" y="3217774"/>
            <a:ext cx="859536" cy="230429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75888" y="3448202"/>
            <a:ext cx="859536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33272" y="360822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92808" y="315376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52344" y="315376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11880" y="338419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71416" y="333298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33272" y="44622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92808" y="44622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52344" y="44622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11880" y="44622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71416" y="44622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97280" y="4663440"/>
            <a:ext cx="3474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481328" y="460857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40280" y="4663440"/>
            <a:ext cx="34747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633472" y="46085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97880" y="1051560"/>
            <a:ext cx="2926080" cy="382219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3504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016752" y="157276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016752" y="1572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10528" y="1572768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 rises 60%→87% across 5 epochs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16752" y="235000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016752" y="2350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10528" y="2350008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peaks at epoch 2 (68.3%) then stabilises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16752" y="3127248"/>
            <a:ext cx="420624" cy="42062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16752" y="31272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10528" y="3127248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fired — best weights from epoch 2 restored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016752" y="3904488"/>
            <a:ext cx="420624" cy="42062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016752" y="3904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510528" y="3904488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gap: more data would improve generalisation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|  Phase 4 NLP Project  |  June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Models — Performance Comparison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(3-class) results across all four models evaluated on the same stratified test set.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93392" cy="309067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93392" cy="749808"/>
          </a:xfrm>
          <a:prstGeom prst="roundRect">
            <a:avLst>
              <a:gd name="adj" fmla="val 12195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8813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 Bayes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" y="1874520"/>
            <a:ext cx="1883664" cy="384048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89280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89888" y="189280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66.3%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" y="2276856"/>
            <a:ext cx="18836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29514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89888" y="229514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" y="2679192"/>
            <a:ext cx="1883664" cy="384048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Neg. Recall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89888" y="269748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88620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41448" y="1051560"/>
            <a:ext cx="1993392" cy="309067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41448" y="1051560"/>
            <a:ext cx="1993392" cy="749808"/>
          </a:xfrm>
          <a:prstGeom prst="roundRect">
            <a:avLst>
              <a:gd name="adj" fmla="val 1219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32888" y="108813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 Balanced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Trad. Best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96312" y="1874520"/>
            <a:ext cx="1883664" cy="384048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32888" y="189280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57016" y="189280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63.8%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96312" y="2276856"/>
            <a:ext cx="18836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32888" y="229514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57016" y="229514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96312" y="2679192"/>
            <a:ext cx="1883664" cy="384048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32888" y="26974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Neg. Recall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57016" y="269748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32888" y="388620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08576" y="1051560"/>
            <a:ext cx="1993392" cy="309067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08576" y="1051560"/>
            <a:ext cx="1993392" cy="749808"/>
          </a:xfrm>
          <a:prstGeom prst="roundRect">
            <a:avLst>
              <a:gd name="adj" fmla="val 12195"/>
            </a:avLst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0016" y="108813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Best Overall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1874520"/>
            <a:ext cx="1883664" cy="384048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0016" y="189280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24144" y="189280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67.5%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2276856"/>
            <a:ext cx="18836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0016" y="229514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24144" y="229514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0.657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2679192"/>
            <a:ext cx="1883664" cy="384048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00016" y="26974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Neg. Recall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24144" y="269748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00016" y="388620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75704" y="1051560"/>
            <a:ext cx="1993392" cy="309067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775704" y="1051560"/>
            <a:ext cx="1993392" cy="749808"/>
          </a:xfrm>
          <a:prstGeom prst="roundRect">
            <a:avLst>
              <a:gd name="adj" fmla="val 1219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67144" y="108813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Bi-LSTM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30568" y="1874520"/>
            <a:ext cx="1883664" cy="384048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67144" y="189280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91272" y="189280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67.1%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30568" y="2276856"/>
            <a:ext cx="18836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67144" y="229514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891272" y="229514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0.638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830568" y="2679192"/>
            <a:ext cx="1883664" cy="384048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867144" y="26974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Neg. Recall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269748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867144" y="388620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4187952"/>
            <a:ext cx="8595360" cy="896112"/>
          </a:xfrm>
          <a:prstGeom prst="roundRect">
            <a:avLst>
              <a:gd name="adj" fmla="val 10204"/>
            </a:avLst>
          </a:prstGeom>
          <a:solidFill>
            <a:srgbClr val="E8F4F6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57200" y="42611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at a glance: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926080" y="4389120"/>
            <a:ext cx="614477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926080" y="42519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0.606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343400" y="4389120"/>
            <a:ext cx="1086307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343400" y="42519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0.649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760720" y="4389120"/>
            <a:ext cx="1196035" cy="219456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760720" y="42519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★ 0.657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178040" y="4389120"/>
            <a:ext cx="965606" cy="219456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178040" y="42519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0.638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|  Phase 4 NLP Project  |  June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Model Interpretability — LIME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after all three modelling phases — explains decisions from the best models.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023360" cy="41148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LIME — Local + Global Interpretability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57276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72768"/>
            <a:ext cx="3200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single tweet to explain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13969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21396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139696"/>
            <a:ext cx="3200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Perturbs text by hiding words randomly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2706624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27066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706624"/>
            <a:ext cx="3200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how the model prediction changes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327355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3273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273552"/>
            <a:ext cx="3200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words by influence on the result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" y="384048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3840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840480"/>
            <a:ext cx="3200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which words drove the prediction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224528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EEF6F7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2793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view: LR coefficient chart shows which words the model associates with each class across ALL tweets.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024128"/>
            <a:ext cx="4160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111556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Prediction Explained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15087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 the new iPad — best tablet ever!"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19019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POSITIVE  (confidence 0.92)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24028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driving prediction: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523744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42432" y="2578608"/>
            <a:ext cx="1228954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26250" y="252374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907792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42432" y="2962656"/>
            <a:ext cx="921715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19011" y="290779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3291840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42432" y="3346704"/>
            <a:ext cx="422453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19749" y="3291840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675888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42432" y="3730752"/>
            <a:ext cx="30723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04534" y="3675888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40599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742432" y="4114800"/>
            <a:ext cx="153619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950915" y="4059936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44805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Positive: love · great · awesome · new ipad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Negative: fail · crash · problem · broken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|  Phase 4 NLP Project  |  June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8: Key Insights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427939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969264"/>
            <a:ext cx="420624" cy="42062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969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8869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negative tweets — severe imbalance; weighted F1 over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" y="1655064"/>
            <a:ext cx="427939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80136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801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7190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tweets longer (109 chars) — users elaborate when frustrated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2487168"/>
            <a:ext cx="427939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633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55117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&amp; Apple drive most positive sentiment; Google leans neutral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3319272"/>
            <a:ext cx="427939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" y="3465576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3465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improve binary accuracy 84.6%→88.6% — phrases matter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" y="4151376"/>
            <a:ext cx="427939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" y="4297680"/>
            <a:ext cx="420624" cy="420624"/>
          </a:xfrm>
          <a:prstGeom prst="ellipse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4297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21538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best multiclass F1 (0.657) — non-linear TF-IDF combinations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822960"/>
            <a:ext cx="427939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969264"/>
            <a:ext cx="420624" cy="42062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969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76672" y="8869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competitive (67.1%) — more data needed to exceed ML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655064"/>
            <a:ext cx="427939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180136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1801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76672" y="17190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LSTM stopped at 5/15 epochs, overfitting prevented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487168"/>
            <a:ext cx="427939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46320" y="263347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2633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76672" y="255117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confirms: 'love','great' → Positive; 'fail','crash' → Negative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319272"/>
            <a:ext cx="427939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46320" y="3465576"/>
            <a:ext cx="420624" cy="42062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3465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76672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raises Negative recall 11%→58%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151376"/>
            <a:ext cx="427939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46320" y="4297680"/>
            <a:ext cx="420624" cy="42062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4297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76672" y="421538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 unsolved — BERT is the recommended next modelling step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|  Phase 4 NLP Project  |  June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9: Evaluation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868680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88.6%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92608" y="15727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Accuracy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9736" y="8229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59736" y="868680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59736" y="15727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8229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26864" y="868680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26864" y="15727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Multiclass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Classifier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93992" y="8229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93992" y="868680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93992" y="15727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Multiclass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Summary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00200" y="2834640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35808" y="283464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84448" y="283464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W-F1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108960"/>
            <a:ext cx="3840480" cy="274320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1272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312724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35808" y="31272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84448" y="31272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401568"/>
            <a:ext cx="3840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41985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00200" y="341985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Balanced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35808" y="341985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63.8%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84448" y="341985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0.649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3694176"/>
            <a:ext cx="3840480" cy="274320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71246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600200" y="371246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★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35808" y="371246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67.5%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84448" y="371246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0.657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3986784"/>
            <a:ext cx="3840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00507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00200" y="400507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035808" y="400507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67.1%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84448" y="400507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0.638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377440"/>
            <a:ext cx="416052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0600" y="24688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3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Approach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00600" y="2834640"/>
            <a:ext cx="3886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Stratified 80/20 train/test split — same for all models</a:t>
            </a:r>
            <a:endParaRPr lang="en-US" sz="11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LSTM: extra 10% validation for early stopping</a:t>
            </a:r>
            <a:endParaRPr lang="en-US" sz="11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prevents TF-IDF data leakage</a:t>
            </a:r>
            <a:endParaRPr lang="en-US" sz="11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Weighted F1 over accuracy — 60% = just predicting Neutral</a:t>
            </a:r>
            <a:endParaRPr lang="en-US" sz="11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Negative recall tracked separately — highest business cost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3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Recommendations &amp;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11223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29184" cy="1554480"/>
          </a:xfrm>
          <a:prstGeom prst="roundRect">
            <a:avLst>
              <a:gd name="adj" fmla="val 2777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10881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Binary RF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" y="148132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 accuracy — ready for real-time positive/negative tweet alerting today.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112233"/>
          </a:solidFill>
          <a:ln w="12700">
            <a:solidFill>
              <a:srgbClr val="4B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29184" cy="1554480"/>
          </a:xfrm>
          <a:prstGeom prst="roundRect">
            <a:avLst>
              <a:gd name="adj" fmla="val 27778"/>
            </a:avLst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93792" y="10881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MLP for Multiclass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93792" y="148132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weighted F1 (0.657) — suitable for brand sentiment dashboards.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679192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112233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679192"/>
            <a:ext cx="329184" cy="1554480"/>
          </a:xfrm>
          <a:prstGeom prst="roundRect">
            <a:avLst>
              <a:gd name="adj" fmla="val 27778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2807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More Negatives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" y="32004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6% negative tweets. More labelled data will significantly improve recall.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679192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2679192"/>
            <a:ext cx="329184" cy="1554480"/>
          </a:xfrm>
          <a:prstGeom prst="roundRect">
            <a:avLst>
              <a:gd name="adj" fmla="val 2777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93792" y="2807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 BERT Next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93792" y="32004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handle sarcasm and context that TF-IDF and LSTM cannot.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416552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0A2030"/>
          </a:solidFill>
          <a:ln w="635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44805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tuning  •  SMOTE oversampling  •  Twitter API pipeline  •  Time-series tracking  •  Fine-tune BERT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|  Phase 4 NLP Project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3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3291840" cy="3291840"/>
          </a:xfrm>
          <a:prstGeom prst="ellipse">
            <a:avLst/>
          </a:prstGeom>
          <a:solidFill>
            <a:srgbClr val="0F4A5A"/>
          </a:solidFill>
          <a:ln w="12700">
            <a:solidFill>
              <a:srgbClr val="0F4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06640" y="-1005840"/>
            <a:ext cx="2834640" cy="2834640"/>
          </a:xfrm>
          <a:prstGeom prst="ellipse">
            <a:avLst/>
          </a:prstGeom>
          <a:solidFill>
            <a:srgbClr val="0D3F4E"/>
          </a:solidFill>
          <a:ln w="12700">
            <a:solidFill>
              <a:srgbClr val="0D3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Sentiment Analysis — Phase 4 NLP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2651760"/>
            <a:ext cx="1920240" cy="1261872"/>
          </a:xfrm>
          <a:prstGeom prst="roundRect">
            <a:avLst>
              <a:gd name="adj" fmla="val 7246"/>
            </a:avLst>
          </a:prstGeom>
          <a:solidFill>
            <a:srgbClr val="112233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715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344" y="2999232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9,093 tweets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CrowdFlower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2651760"/>
            <a:ext cx="1920240" cy="1261872"/>
          </a:xfrm>
          <a:prstGeom prst="roundRect">
            <a:avLst>
              <a:gd name="adj" fmla="val 7246"/>
            </a:avLst>
          </a:prstGeom>
          <a:solidFill>
            <a:srgbClr val="112233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2715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Binary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9464" y="2999232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 / F1=0.936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2651760"/>
            <a:ext cx="1920240" cy="1261872"/>
          </a:xfrm>
          <a:prstGeom prst="roundRect">
            <a:avLst>
              <a:gd name="adj" fmla="val 7246"/>
            </a:avLst>
          </a:prstGeom>
          <a:solidFill>
            <a:srgbClr val="112233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2715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Multiclass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72584" y="2999232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Classifier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67.5% / F1=0.657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2651760"/>
            <a:ext cx="1920240" cy="1261872"/>
          </a:xfrm>
          <a:prstGeom prst="roundRect">
            <a:avLst>
              <a:gd name="adj" fmla="val 7246"/>
            </a:avLst>
          </a:prstGeom>
          <a:solidFill>
            <a:srgbClr val="112233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0840" y="2715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75704" y="2999232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67.1% / F1=0.638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Mercy Mwangi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45902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1582</Words>
  <Application>Microsoft Office PowerPoint</Application>
  <PresentationFormat>On-screen Show (16:9)</PresentationFormat>
  <Paragraphs>395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Mercy Mwangi</dc:creator>
  <cp:lastModifiedBy>Mercy Wambui Mwangi</cp:lastModifiedBy>
  <cp:revision>5</cp:revision>
  <dcterms:created xsi:type="dcterms:W3CDTF">2026-06-13T18:07:40Z</dcterms:created>
  <dcterms:modified xsi:type="dcterms:W3CDTF">2026-06-13T18:36:25Z</dcterms:modified>
</cp:coreProperties>
</file>